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0E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0E22"/>
                </a:solidFill>
                <a:latin typeface="+mn-lt"/>
              </a:rPr>
              <a:t>Wines per quality score (project dataset)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Wines</c:v>
                </c:pt>
              </c:strCache>
            </c:strRef>
          </c:tx>
          <c:spPr>
            <a:solidFill>
              <a:srgbClr val="8E1B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1A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Quality 4</c:v>
                </c:pt>
                <c:pt idx="1">
                  <c:v>Quality 5</c:v>
                </c:pt>
                <c:pt idx="2">
                  <c:v>Quality 6</c:v>
                </c:pt>
                <c:pt idx="3">
                  <c:v>Quality 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877</c:v>
                </c:pt>
                <c:pt idx="2">
                  <c:v>467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D-46B6-B91C-7CC920AF05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A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0E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0E22"/>
                </a:solidFill>
                <a:latin typeface="+mn-lt"/>
              </a:rPr>
              <a:t>Random Forest feature importance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8E1B3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1A2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alcohol</c:v>
                </c:pt>
                <c:pt idx="1">
                  <c:v>free sulfur dioxide</c:v>
                </c:pt>
                <c:pt idx="2">
                  <c:v>citric acid</c:v>
                </c:pt>
                <c:pt idx="3">
                  <c:v>total sulfur dioxide</c:v>
                </c:pt>
                <c:pt idx="4">
                  <c:v>sulphates</c:v>
                </c:pt>
                <c:pt idx="5">
                  <c:v>chlorides</c:v>
                </c:pt>
                <c:pt idx="6">
                  <c:v>pH</c:v>
                </c:pt>
                <c:pt idx="7">
                  <c:v>volatile acidity</c:v>
                </c:pt>
                <c:pt idx="8">
                  <c:v>residual sugar</c:v>
                </c:pt>
                <c:pt idx="9">
                  <c:v>density</c:v>
                </c:pt>
                <c:pt idx="10">
                  <c:v>fixed acidity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8.1</c:v>
                </c:pt>
                <c:pt idx="1">
                  <c:v>8.5</c:v>
                </c:pt>
                <c:pt idx="2">
                  <c:v>8.5</c:v>
                </c:pt>
                <c:pt idx="3">
                  <c:v>8.6</c:v>
                </c:pt>
                <c:pt idx="4">
                  <c:v>8.8000000000000007</c:v>
                </c:pt>
                <c:pt idx="5">
                  <c:v>9</c:v>
                </c:pt>
                <c:pt idx="6">
                  <c:v>9.1999999999999993</c:v>
                </c:pt>
                <c:pt idx="7">
                  <c:v>9.6999999999999993</c:v>
                </c:pt>
                <c:pt idx="8">
                  <c:v>9.8000000000000007</c:v>
                </c:pt>
                <c:pt idx="9">
                  <c:v>9.9</c:v>
                </c:pt>
                <c:pt idx="1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3A-42D2-A9AE-D1254991B4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A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0E22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0E22"/>
                </a:solidFill>
                <a:latin typeface="+mn-lt"/>
              </a:rPr>
              <a:t>Predicted quality, 10 sample rows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8E1B3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6</c:v>
                </c:pt>
                <c:pt idx="8">
                  <c:v>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9D-4976-BC17-F658937C256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spPr>
            <a:solidFill>
              <a:srgbClr val="C9A2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  <c:pt idx="6">
                  <c:v>R7</c:v>
                </c:pt>
                <c:pt idx="7">
                  <c:v>R8</c:v>
                </c:pt>
                <c:pt idx="8">
                  <c:v>R9</c:v>
                </c:pt>
                <c:pt idx="9">
                  <c:v>R10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6</c:v>
                </c:pt>
                <c:pt idx="8">
                  <c:v>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9D-4976-BC17-F658937C25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A2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8D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55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B1A2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338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project, team and guide. Fill the bracketed fields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Wine quality is traditionally judged by experts. ML lets us estimate it from lab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manual assessment does not scale and is subjective.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chose it: a real quality-control need and a clean, well-known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main objective, four specific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approach: sensory panels and lab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 turns 11 lab values into a predicted quality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as implemented in the project: dataset and model come from Colab; app.py serves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marked Colab happened outside the uploaded files, so their details are not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technologies found in requirements.txt, app.py and the front-end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maps to real files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Models are loaded once at start-up; each request builds a DataFrame and predicts.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file in the project: dataset/winequality-red-project.csv. Statistics computed from that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balance matters: scores 5 and 6 dominate; score 7 is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is the main model; Decision Tree is the comparison. Parameters read from the saved .pkl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 uploaded files contain the trained models but not the Colab evaluation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charts are computed from the saved models in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of the Flask app running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 card for one wine, and batch prediction using the project's sample_upload.csv.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Benefits of the ML approach over manual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could use a system like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limits: relevant for viva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what was built and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5560"/>
                </a:solidFill>
              </a:rPr>
              <a:t>Wine Quality Prediction | KL University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4A0E22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A0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24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188720" y="3017520"/>
            <a:ext cx="3657600" cy="3657600"/>
          </a:xfrm>
          <a:prstGeom prst="ellipse">
            <a:avLst/>
          </a:prstGeom>
          <a:solidFill>
            <a:srgbClr val="8E1B3A">
              <a:alpha val="45000"/>
            </a:srgbClr>
          </a:solidFill>
          <a:ln w="12700">
            <a:solidFill>
              <a:srgbClr val="8E1B3A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868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Prediction Using Machine Learning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with a Flask web app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Poojitha-2520090236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S. Rishitha Reddy-2520090039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Lakshmi Haritha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CSIT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  </a:t>
            </a:r>
            <a:r>
              <a:rPr lang="en-US" sz="1400" b="1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2026-2027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54496" y="493776"/>
            <a:ext cx="1892808" cy="3877056"/>
          </a:xfrm>
          <a:prstGeom prst="roundRect">
            <a:avLst>
              <a:gd name="adj" fmla="val 4831"/>
            </a:avLst>
          </a:prstGeom>
          <a:solidFill>
            <a:srgbClr val="170B12"/>
          </a:solidFill>
          <a:ln w="12700">
            <a:solidFill>
              <a:srgbClr val="C9A24D"/>
            </a:solidFill>
            <a:prstDash val="solid"/>
          </a:ln>
        </p:spPr>
      </p:sp>
      <p:pic>
        <p:nvPicPr>
          <p:cNvPr id="9" name="Image 0" descr="/home/claude/shots/03_resul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548640"/>
            <a:ext cx="1783080" cy="3767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254496" y="442569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actual web app output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wine quality is scored on a 0 to 10 scale by sensory panels.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105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learn patterns from past data to predict new cases.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35040" y="109728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Measurements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10512"/>
            <a:ext cx="23774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physicochemical properties describe each wine sample.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0632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" y="3200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needed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85800" y="3566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 are slow, costly and depend on human tasters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gives a fast, consistent estimate from measurable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Problem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depends on expert tasting, which is hard to repeat consistently.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81051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Producers, quality-control labs, retailers and buyers.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traditional assessment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Subjective: different tasters can score the same wine differently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and costly: needs trained experts and time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apply to every batch at large scale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Motivation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2377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practical problem with a complete ML workflow: data, model and web app.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Need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10512"/>
            <a:ext cx="2377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Wineries need quick quality screening from routine lab measurements.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3504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Motivation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10512"/>
            <a:ext cx="23774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is a widely studied classification problem in data science.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turn routine lab measurements into a fast, repeatable quality estimate.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097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objective: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red wine quality from 11 lab measurements using machine learning.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2450592"/>
            <a:ext cx="502920" cy="50292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Random Forest model on the red-wine dataset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2450592"/>
            <a:ext cx="502920" cy="50292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006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with a Decision Tree model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3639312"/>
            <a:ext cx="502920" cy="50292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Flask web app for single and CSV predictions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3639312"/>
            <a:ext cx="502920" cy="50292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4068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quality score, category and model confidence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Existing System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Approach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tasters score wines; lab tests measure chemistry separately.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09160" y="109728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810512"/>
            <a:ext cx="3703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evaluation panels and manual physicochemical analysis.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8346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85800" y="2971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3337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and inconsistent between tasters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and expensive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 are not turned into a quality estimate automatically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Proposed System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model, served by a Flask web app, predicts quality from 11 measurements.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09160" y="1097280"/>
            <a:ext cx="3977640" cy="1828800"/>
          </a:xfrm>
          <a:prstGeom prst="roundRect">
            <a:avLst>
              <a:gd name="adj" fmla="val 5000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234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846320" y="181051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quality, quality %, Good / Needs Improvement, model confidence.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limitations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same inputs always give the same prediction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instant result, plus batch prediction from a CSV file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inputs fall outside the training data range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371600"/>
            <a:ext cx="1234440" cy="2286000"/>
          </a:xfrm>
          <a:prstGeom prst="roundRect">
            <a:avLst>
              <a:gd name="adj" fmla="val 740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4672" y="150876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1848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Input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84632" y="2697480"/>
            <a:ext cx="1088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records, 11 features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645920" y="2514600"/>
            <a:ext cx="182880" cy="0"/>
          </a:xfrm>
          <a:prstGeom prst="line">
            <a:avLst/>
          </a:prstGeom>
          <a:noFill/>
          <a:ln w="31750">
            <a:solidFill>
              <a:srgbClr val="C9A24D"/>
            </a:solidFill>
            <a:prstDash val="solid"/>
            <a:tailEnd type="triangle"/>
          </a:ln>
        </p:spPr>
      </p:sp>
      <p:sp>
        <p:nvSpPr>
          <p:cNvPr id="10" name="Shape 6"/>
          <p:cNvSpPr/>
          <p:nvPr/>
        </p:nvSpPr>
        <p:spPr>
          <a:xfrm>
            <a:off x="1828800" y="1371600"/>
            <a:ext cx="1234440" cy="2286000"/>
          </a:xfrm>
          <a:prstGeom prst="roundRect">
            <a:avLst>
              <a:gd name="adj" fmla="val 740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221992" y="150876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6184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87452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901952" y="2697480"/>
            <a:ext cx="1088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check, CSV column match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063240" y="2514600"/>
            <a:ext cx="182880" cy="0"/>
          </a:xfrm>
          <a:prstGeom prst="line">
            <a:avLst/>
          </a:prstGeom>
          <a:noFill/>
          <a:ln w="31750">
            <a:solidFill>
              <a:srgbClr val="C9A24D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3246120" y="1371600"/>
            <a:ext cx="1234440" cy="2286000"/>
          </a:xfrm>
          <a:prstGeom prst="roundRect">
            <a:avLst>
              <a:gd name="adj" fmla="val 740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639312" y="150876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161848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29184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Processing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3319272" y="2697480"/>
            <a:ext cx="1088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features, fixed order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480560" y="2514600"/>
            <a:ext cx="182880" cy="0"/>
          </a:xfrm>
          <a:prstGeom prst="line">
            <a:avLst/>
          </a:prstGeom>
          <a:noFill/>
          <a:ln w="31750">
            <a:solidFill>
              <a:srgbClr val="C9A24D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4663440" y="1371600"/>
            <a:ext cx="1234440" cy="2286000"/>
          </a:xfrm>
          <a:prstGeom prst="roundRect">
            <a:avLst>
              <a:gd name="adj" fmla="val 7407"/>
            </a:avLst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56632" y="1508760"/>
            <a:ext cx="457200" cy="457200"/>
          </a:xfrm>
          <a:prstGeom prst="ellipse">
            <a:avLst/>
          </a:prstGeom>
          <a:solidFill>
            <a:srgbClr val="C9A24D"/>
          </a:solidFill>
          <a:ln w="12700">
            <a:solidFill>
              <a:srgbClr val="C9A24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61848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70916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4736592" y="2697480"/>
            <a:ext cx="1088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(200 trees)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897880" y="2514600"/>
            <a:ext cx="182880" cy="0"/>
          </a:xfrm>
          <a:prstGeom prst="line">
            <a:avLst/>
          </a:prstGeom>
          <a:noFill/>
          <a:ln w="31750">
            <a:solidFill>
              <a:srgbClr val="C9A24D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6080760" y="1371600"/>
            <a:ext cx="1234440" cy="2286000"/>
          </a:xfrm>
          <a:prstGeom prst="roundRect">
            <a:avLst>
              <a:gd name="adj" fmla="val 740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73952" y="150876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161848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12648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153912" y="2697480"/>
            <a:ext cx="1088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4 to 7 + confidence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7315200" y="2514600"/>
            <a:ext cx="182880" cy="0"/>
          </a:xfrm>
          <a:prstGeom prst="line">
            <a:avLst/>
          </a:prstGeom>
          <a:noFill/>
          <a:ln w="31750">
            <a:solidFill>
              <a:srgbClr val="C9A24D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7498080" y="1371600"/>
            <a:ext cx="1234440" cy="2286000"/>
          </a:xfrm>
          <a:prstGeom prst="roundRect">
            <a:avLst>
              <a:gd name="adj" fmla="val 740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891272" y="150876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618488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543800" y="210312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Output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7571232" y="2697480"/>
            <a:ext cx="1088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%, category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411480" y="3886200"/>
            <a:ext cx="8275320" cy="640080"/>
          </a:xfrm>
          <a:prstGeom prst="roundRect">
            <a:avLst>
              <a:gd name="adj" fmla="val 14286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594360" y="38862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model also predicts on the same input, as a comparison model shown in the result panel.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Methodology / Workflow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E2E7"/>
          </a:solidFill>
          <a:ln w="12700">
            <a:solidFill>
              <a:srgbClr val="F1E2E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66928" y="132588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270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Red-wine CSV, 1,600 records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55848" y="132588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558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9319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931920" y="15270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read with pandas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0515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E2E7"/>
          </a:solidFill>
          <a:ln w="12700">
            <a:solidFill>
              <a:srgbClr val="F1E2E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4768" y="132588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4476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5270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steps: not in files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22402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2350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11 features used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22402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E2E7"/>
          </a:solidFill>
          <a:ln w="12700">
            <a:solidFill>
              <a:srgbClr val="F1E2E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55848" y="25146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5584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931920" y="2350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931920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provided files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035040" y="224028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144768" y="25146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447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720840" y="23500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720840" y="27157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and DT, trained in Colab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3429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E2E7"/>
          </a:solidFill>
          <a:ln w="12700">
            <a:solidFill>
              <a:srgbClr val="F1E2E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6928" y="37033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6692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143000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1143000" y="3904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/predict endpoint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246120" y="3429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355848" y="37033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35584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3931920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3931920" y="3904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not in files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035040" y="34290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F1E2E7"/>
          </a:solidFill>
          <a:ln w="12700">
            <a:solidFill>
              <a:srgbClr val="F1E2E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144768" y="37033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14476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6720840" y="353872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6720840" y="39044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%, category, confidence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JavaScript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1.6.1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0815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Libraries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joblib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8328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8152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776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17220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8152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6656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VS Code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457200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red-wine CSV (1,600 rows). Fonts: Fraunces and Instrument Sans (Google Fonts). Database: none used.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System Modules / Components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Module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dataset/ CSV files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Module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random_forest_model.pkl, decision_tree_model.pkl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and /predict-csv in app.py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0815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checks, range warnings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8328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8152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776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index.html, style.css, script.js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17220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8152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6656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results table and download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Implementation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both .pkl models with joblib at start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features match the 11 expected, in order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reads JSON and validates each number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gives score and confidence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score is shown for comparison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if a value is outside the training range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526280" y="1097280"/>
            <a:ext cx="4206240" cy="2651760"/>
          </a:xfrm>
          <a:prstGeom prst="roundRect">
            <a:avLst>
              <a:gd name="adj" fmla="val 3448"/>
            </a:avLst>
          </a:prstGeom>
          <a:solidFill>
            <a:srgbClr val="1E1218"/>
          </a:solidFill>
          <a:ln w="12700">
            <a:solidFill>
              <a:srgbClr val="1E121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663440" y="123444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2E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predict_frame(df):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E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df[EXPECTED_FEATURES]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E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rf_pred = rf_model.predict(X)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E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rf_conf = rf_model.predict_proba(X).max(axis=1)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E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dt_pred = dt_model.predict(X)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2E8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rf_pred, rf_conf, dt_pred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from app.py (code font kept small to fit). Category rule: predicted quality 6 or higher is Good.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Dataset / Input Data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10058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256032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quality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1005840"/>
            <a:ext cx="1965960" cy="960120"/>
          </a:xfrm>
          <a:prstGeom prst="roundRect">
            <a:avLst>
              <a:gd name="adj" fmla="val 9524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766560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duplicates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acidity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sulfur dioxide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acidity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citric acid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sugar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sulphates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chlorides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alcohol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sulfur dioxide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(target)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1A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E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45720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separately uploaded winequality-red.csv has 1,599 rows (scores 3 to 8, 240 duplicates). The models use the 1,600-row project file.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Dataset Analysis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05840"/>
          <a:ext cx="47548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1"/>
          <p:cNvSpPr/>
          <p:nvPr/>
        </p:nvSpPr>
        <p:spPr>
          <a:xfrm>
            <a:off x="5440680" y="1097280"/>
            <a:ext cx="3246120" cy="3429000"/>
          </a:xfrm>
          <a:prstGeom prst="roundRect">
            <a:avLst>
              <a:gd name="adj" fmla="val 2817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2356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checks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623560" y="164592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rows: 0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quality, classes 4 to 7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analysis: Not available in the provided project files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preprocessing: Not available in the provided project files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Algorithm / Model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29844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188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(main)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764792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decision trees vote; the majority class is the prediction.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63440" y="105156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00600" y="11887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9844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1188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(comparison)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1764792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tree of if-else splits on feature values.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40233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60604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(grown to depth 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random_state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>
                    <a:lnL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C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9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project metadata names Random Forest as the best model. Ensembles are generally more stable than a single tree.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Results: Evaluation Metrics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the provided project files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4612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the provided project files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1612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54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the provided project files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the provided project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4612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38328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the provided project files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3504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2395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metrics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2788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in the provided project files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4A0E22"/>
          </a:solidFill>
          <a:ln w="12700">
            <a:solidFill>
              <a:srgbClr val="4A0E2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61188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files do confirm: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metadata lists Random Forest as the best model, and both models were exported from Google Colab. Numeric scores were not included, so none are shown 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Results: Model Outputs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45720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029200" y="960120"/>
          <a:ext cx="37490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029200" y="3520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is spread evenly (about 8% to 10% each)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agreed on all 10 sample rows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batch: 3 Good, 7 Needs Improvement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Screenshots: Home and Input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48056" y="1042416"/>
            <a:ext cx="3950208" cy="2510028"/>
          </a:xfrm>
          <a:prstGeom prst="roundRect">
            <a:avLst>
              <a:gd name="adj" fmla="val 3643"/>
            </a:avLst>
          </a:prstGeom>
          <a:solidFill>
            <a:srgbClr val="170B12"/>
          </a:solidFill>
          <a:ln w="12700">
            <a:solidFill>
              <a:srgbClr val="C9A24D"/>
            </a:solidFill>
            <a:prstDash val="solid"/>
          </a:ln>
        </p:spPr>
      </p:sp>
      <p:pic>
        <p:nvPicPr>
          <p:cNvPr id="5" name="Image 0" descr="/home/claude/shots/0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3840480" cy="24003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48056" y="360730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page: empty input form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4745736" y="1042416"/>
            <a:ext cx="3950208" cy="2510028"/>
          </a:xfrm>
          <a:prstGeom prst="roundRect">
            <a:avLst>
              <a:gd name="adj" fmla="val 3643"/>
            </a:avLst>
          </a:prstGeom>
          <a:solidFill>
            <a:srgbClr val="170B12"/>
          </a:solidFill>
          <a:ln w="12700">
            <a:solidFill>
              <a:srgbClr val="C9A24D"/>
            </a:solidFill>
            <a:prstDash val="solid"/>
          </a:ln>
        </p:spPr>
      </p:sp>
      <p:pic>
        <p:nvPicPr>
          <p:cNvPr id="8" name="Image 1" descr="/home/claude/shots/02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097280"/>
            <a:ext cx="3840480" cy="24003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745736" y="360730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screen: 11 values entered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grouped (acidity, sugar and salts, sulfur dioxide, body) and each shows its training range. A separate processing screen is not implemented: prediction runs on the server when Predict is pressed.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Screenshots: Prediction and CSV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85216" y="996696"/>
            <a:ext cx="1709928" cy="3493008"/>
          </a:xfrm>
          <a:prstGeom prst="roundRect">
            <a:avLst>
              <a:gd name="adj" fmla="val 5348"/>
            </a:avLst>
          </a:prstGeom>
          <a:solidFill>
            <a:srgbClr val="170B12"/>
          </a:solidFill>
          <a:ln w="12700">
            <a:solidFill>
              <a:srgbClr val="C9A24D"/>
            </a:solidFill>
            <a:prstDash val="solid"/>
          </a:ln>
        </p:spPr>
      </p:sp>
      <p:pic>
        <p:nvPicPr>
          <p:cNvPr id="5" name="Image 0" descr="/home/claude/shots/03_result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1600200" cy="3383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6" y="4544568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2779776" y="996696"/>
            <a:ext cx="3493008" cy="3474720"/>
          </a:xfrm>
          <a:prstGeom prst="roundRect">
            <a:avLst>
              <a:gd name="adj" fmla="val 2632"/>
            </a:avLst>
          </a:prstGeom>
          <a:solidFill>
            <a:srgbClr val="170B12"/>
          </a:solidFill>
          <a:ln w="12700">
            <a:solidFill>
              <a:srgbClr val="C9A24D"/>
            </a:solidFill>
            <a:prstDash val="solid"/>
          </a:ln>
        </p:spPr>
      </p:sp>
      <p:pic>
        <p:nvPicPr>
          <p:cNvPr id="8" name="Image 1" descr="/home/claude/shots/04_cs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051560"/>
            <a:ext cx="3383280" cy="336499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79776" y="452628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batch prediction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6446520" y="1051560"/>
            <a:ext cx="2286000" cy="3383280"/>
          </a:xfrm>
          <a:prstGeom prst="roundRect">
            <a:avLst>
              <a:gd name="adj" fmla="val 4000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5836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on the result card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583680" y="1737360"/>
            <a:ext cx="2057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quality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percentage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score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Advantages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 from lab values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97764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338328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output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34416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2344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Ready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181051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5,000 rows per CSV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0815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59436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range warnings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24612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38328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3008" y="3081528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97764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338328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web interface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35040" y="28346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17220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308152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766560" y="29718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6172200" y="354787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side by side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Industry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screening of batches before expert tasting.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006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1234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18105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samples that need a closer look.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0815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Teaching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" y="354787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classification on real tabular data.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00600" y="29718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08152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94960" y="29718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and Retail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4800600" y="354787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decisions on grading and selection.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2632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red wine only; scores 4 to 7, so extremes (below 4, above 7) are not predicted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score 7 has only 24 examples, so it is rarely predicted well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accuracy, precision, recall and F1 are not available in the provided project files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confidence is how strongly the forest favoured a score, not accuracy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estimates only, not a replacement for expert tasting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runs on the Flask development server, local use only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0E22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441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88720" y="1234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Models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181051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tuning, cross-validation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00600" y="123444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34416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1234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Data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181051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wines, including white wine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2724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94360" y="35935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online with a production server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7EEF1"/>
          </a:solidFill>
          <a:ln w="12700">
            <a:solidFill>
              <a:srgbClr val="F7EE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00600" y="301752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1272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394960" y="3017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0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Use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4800600" y="3593592"/>
            <a:ext cx="37490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1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lab sensors or instruments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E556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6A1C38"/>
          </a:solidFill>
          <a:ln w="12700">
            <a:solidFill>
              <a:srgbClr val="6A1C3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09928"/>
            <a:ext cx="237744" cy="2377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2176272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Flask app that predicts red wine quality from 11 lab measurements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29184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6A1C38"/>
          </a:solidFill>
          <a:ln w="12700">
            <a:solidFill>
              <a:srgbClr val="6A1C3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429000" y="16002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7099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0233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2176272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as the main model, Decision Tree as comparison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035040" y="146304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6A1C38"/>
          </a:solidFill>
          <a:ln w="12700">
            <a:solidFill>
              <a:srgbClr val="6A1C3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8E1B3A"/>
          </a:solidFill>
          <a:ln w="12700">
            <a:solidFill>
              <a:srgbClr val="8E1B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170992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76656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A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172200" y="2176272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repeatable alternative to purely manual 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17920" y="-914400"/>
            <a:ext cx="4572000" cy="4572000"/>
          </a:xfrm>
          <a:prstGeom prst="ellipse">
            <a:avLst/>
          </a:prstGeom>
          <a:solidFill>
            <a:srgbClr val="8E1B3A">
              <a:alpha val="45000"/>
            </a:srgbClr>
          </a:solidFill>
          <a:ln w="12700">
            <a:solidFill>
              <a:srgbClr val="8E1B3A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822960" cy="8229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31520" y="2011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C9A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Quality Prediction Using Machine Learning  |  KL University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e ML">
  <a:themeElements>
    <a:clrScheme name="Wine ML">
      <a:dk1>
        <a:srgbClr val="2B1A20"/>
      </a:dk1>
      <a:lt1>
        <a:srgbClr val="FFFFFF"/>
      </a:lt1>
      <a:dk2>
        <a:srgbClr val="4A0E22"/>
      </a:dk2>
      <a:lt2>
        <a:srgbClr val="F7EEF1"/>
      </a:lt2>
      <a:accent1>
        <a:srgbClr val="8E1B3A"/>
      </a:accent1>
      <a:accent2>
        <a:srgbClr val="C9A24D"/>
      </a:accent2>
      <a:accent3>
        <a:srgbClr val="6B8E7F"/>
      </a:accent3>
      <a:accent4>
        <a:srgbClr val="B5546B"/>
      </a:accent4>
      <a:accent5>
        <a:srgbClr val="3E6A8A"/>
      </a:accent5>
      <a:accent6>
        <a:srgbClr val="8A6A4E"/>
      </a:accent6>
      <a:hlink>
        <a:srgbClr val="8E1B3A"/>
      </a:hlink>
      <a:folHlink>
        <a:srgbClr val="6E5560"/>
      </a:folHlink>
    </a:clrScheme>
    <a:fontScheme name="Wine 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1898</Words>
  <Application>Microsoft Office PowerPoint</Application>
  <PresentationFormat>On-screen Show (16:9)</PresentationFormat>
  <Paragraphs>388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Wine ML</vt:lpstr>
      <vt:lpstr>PowerPoint Presentation</vt:lpstr>
      <vt:lpstr>Introduction</vt:lpstr>
      <vt:lpstr>Problem Statement</vt:lpstr>
      <vt:lpstr>Motivation</vt:lpstr>
      <vt:lpstr>Objectives</vt:lpstr>
      <vt:lpstr>Existing System</vt:lpstr>
      <vt:lpstr>Proposed System</vt:lpstr>
      <vt:lpstr>System Architecture</vt:lpstr>
      <vt:lpstr>Methodology / Workflow</vt:lpstr>
      <vt:lpstr>Technology Stack</vt:lpstr>
      <vt:lpstr>System Modules / Components</vt:lpstr>
      <vt:lpstr>Implementation</vt:lpstr>
      <vt:lpstr>Dataset / Input Data</vt:lpstr>
      <vt:lpstr>Dataset Analysis</vt:lpstr>
      <vt:lpstr>Algorithm / Model</vt:lpstr>
      <vt:lpstr>Results: Evaluation Metrics</vt:lpstr>
      <vt:lpstr>Results: Model Outputs</vt:lpstr>
      <vt:lpstr>Screenshots: Home and Input</vt:lpstr>
      <vt:lpstr>Screenshots: Prediction and CSV</vt:lpstr>
      <vt:lpstr>Advantages</vt:lpstr>
      <vt:lpstr>Applications</vt:lpstr>
      <vt:lpstr>Limitations</vt:lpstr>
      <vt:lpstr>Future Scope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Prediction Using Machine Learning</dc:title>
  <dc:subject>PptxGenJS Presentation</dc:subject>
  <dc:creator>PptxGenJS</dc:creator>
  <cp:lastModifiedBy>Rishitha Reddy</cp:lastModifiedBy>
  <cp:revision>2</cp:revision>
  <dcterms:created xsi:type="dcterms:W3CDTF">2026-10-06T05:20:05Z</dcterms:created>
  <dcterms:modified xsi:type="dcterms:W3CDTF">2026-10-06T05:24:30Z</dcterms:modified>
</cp:coreProperties>
</file>